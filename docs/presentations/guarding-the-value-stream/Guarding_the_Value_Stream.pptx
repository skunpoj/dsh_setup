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297" ns0:id="rId26"/>
    <p:sldId xmlns:ns0="http://schemas.openxmlformats.org/officeDocument/2006/relationships" id="298" ns0:id="rId27"/>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DETAILED EXPLANATION</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Operators must enforce the limits</a:t>
            </a:r>
          </a:p>
          <a:p>
            <a:r>
              <a:t>STORY TO TELL</a:t>
            </a:r>
          </a:p>
          <a:p>
            <a:r>
              <a:t>An agent may recognise an inappropriate action, but that judgment can change with context or encouragement. We need limits that still hold when the model makes a poor decision. Operators control the tools, identities and routes. DSH gives us defined integration points at which to implement and test those choices.</a:t>
            </a:r>
          </a:p>
          <a:p>
            <a:r>
              <a:t>DETAILED EXPLANATION</a:t>
            </a:r>
          </a:p>
          <a:p>
            <a:r>
              <a:t>AISI and Anthropic also reported evaluation restrictions or pauses under different conditions. Those were separate cases, not later stages of the Hugging Face attack. A system-enforced permission is different from an agent's voluntary restraint. Do not describe these reports as a formal industry code or combine them into one customer failure rate.</a:t>
            </a:r>
          </a:p>
          <a:p>
            <a:r>
              <a:t>TRANSITION</a:t>
            </a:r>
          </a:p>
          <a:p>
            <a:r>
              <a:t>Research on the surrounding software helps explain where to focus the engineering.</a:t>
            </a:r>
          </a:p>
          <a:p>
            <a:r>
              <a:t>SOURCES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DETAILED EXPLANATION</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DETAILED EXPLANATION</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DETAILED EXPLANATION</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DETAILED EXPLANATION</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DETAILED EXPLANATION</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the institution remains accountable for its AI</a:t>
            </a:r>
          </a:p>
          <a:p xmlns:a="http://schemas.openxmlformats.org/drawingml/2006/main">
            <a:r>
              <a:t>STORY TO TELL</a:t>
            </a:r>
          </a:p>
          <a:p xmlns:a="http://schemas.openxmlformats.org/drawingml/2006/main">
            <a:r>
              <a:t>MAS connects technical control to institutional responsibility. Teams need to identify AI use, assess materiality and apply lifecycle controls. Buying an external model does not transfer accountability. The practical questions are whether we can name the owner, show the inventory entry and explain how testing and monitoring work.</a:t>
            </a:r>
          </a:p>
          <a:p xmlns:a="http://schemas.openxmlformats.org/drawingml/2006/main">
            <a:r>
              <a:t>DETAILED EXPLANATION</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a:t>
            </a:r>
          </a:p>
          <a:p xmlns:a="http://schemas.openxmlformats.org/drawingml/2006/main">
            <a:r>
              <a:t>TRANSITION</a:t>
            </a:r>
          </a:p>
          <a:p xmlns:a="http://schemas.openxmlformats.org/drawingml/2006/main">
            <a:r>
              <a:t>Which parts can a machine check, and which still need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questions make an AI task controllable</a:t>
            </a:r>
          </a:p>
          <a:p>
            <a:r>
              <a:t>STORY TO TELL</a:t>
            </a:r>
          </a:p>
          <a:p>
            <a:r>
              <a:t>Reading a document, using a calculator and issuing a payment are different actions. Give each a separate permission decision. Follow the output too: what leaves the workspace, what enters logs, and what continues after stop? Match the control to the action rather than the product name.</a:t>
            </a:r>
          </a:p>
          <a:p>
            <a:r>
              <a:t>DETAILED EXPLANATION</a:t>
            </a:r>
          </a:p>
          <a:p>
            <a:r>
              <a:t>These questions translate OWASP themes into practical work: prompt injection, data disclosure, excessive authority, tool misuse, unsafe dependencies, memory and coordination. Pin the taxonomy edition in a risk register. A gateway may restrict one path while another remains open; target services must enforce their own permissions. Short-lived credentials, canaries and a stop button each address part of the problem, not every possible compromise.</a:t>
            </a:r>
          </a:p>
          <a:p>
            <a:r>
              <a:t>TRANSITION</a:t>
            </a:r>
          </a:p>
          <a:p>
            <a:r>
              <a:t>A small evidence pack can support several governance frameworks.</a:t>
            </a:r>
          </a:p>
          <a:p>
            <a:r>
              <a:t>SOURCES</a:t>
            </a:r>
          </a:p>
          <a:p>
            <a:r>
              <a:t>https://genai.owasp.org/llm-top-10/</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Governance should point to evidence people can use</a:t>
            </a:r>
          </a:p>
          <a:p>
            <a:r>
              <a:t>STORY TO TELL</a:t>
            </a:r>
          </a:p>
          <a:p>
            <a:r>
              <a:t>A claims owner should be able to show what the system is for, which data it uses, how it was tested and who handles an exception. NIST gives us a way to organise the work. Insurance guidance reinforces responsibility for customer-impacting decisions. None turns a platform setting into a compliance certificate.</a:t>
            </a:r>
          </a:p>
          <a:p>
            <a:r>
              <a:t>DETAILED EXPLANATION</a:t>
            </a:r>
          </a:p>
          <a:p>
            <a:r>
              <a:t>NIST AI RMF is voluntary guidance. The NAIC model bulletin is a model for state insurance supervision, not a globally applicable law. DORA concerns relevant EU financial-sector ICT obligations. EU AI Act classification depends on role and use case; do not classify every AML or underwriting task identically. Keep legal applicability separate from technical test results and operational acceptance. Existing evidence can be reused when it genuinely supports each requirement.</a:t>
            </a:r>
          </a:p>
          <a:p>
            <a:r>
              <a:t>TRANSITION</a:t>
            </a:r>
          </a:p>
          <a:p>
            <a:r>
              <a:t>Now apply these controls to work that banking and insurance teams recognise.</a:t>
            </a:r>
          </a:p>
          <a:p>
            <a:r>
              <a:t>SOURCES</a:t>
            </a:r>
          </a:p>
          <a:p>
            <a:r>
              <a:t>https://airc.nist.gov/airmf-resources/airmf/5-sec-core/</a:t>
            </a:r>
          </a:p>
          <a:p>
            <a:r>
              <a:t>https://content.naic.org/article/naic-members-approve-model-bulletin-use-ai-insurers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DETAILED EXPLANATION</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DETAILED EXPLANATION</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DETAILED EXPLANATION</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DETAILED EXPLANATION</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DETAILED EXPLANATION</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Why DSH: keep useful work and review in one place</a:t>
            </a:r>
          </a:p>
          <a:p>
            <a:r>
              <a:t>STORY TO TELL</a:t>
            </a:r>
          </a:p>
          <a:p>
            <a:r>
              <a:t>The tasks need more than a chat window. People need source files, a way to inspect calculations, discussion and handover. DSH brings those working tools together and gives us defined integration points for control work. The selling point is a practical environment for useful, inspectable work, not a promise that custom software eliminates risk.</a:t>
            </a:r>
          </a:p>
          <a:p>
            <a:r>
              <a:t>DETAILED EXPLANATION</a:t>
            </a:r>
          </a:p>
          <a:p>
            <a:r>
              <a:t>These features come from the recorded DSH material in the existing deck. This presentation does not include a new live verification or any Production change. An authenticated route controls entry to that route; it does not certify every app behind it. HarnessWatch motivates testing the execution layer, while airmkit supports evidence discipline. Neither toolkit is claimed as installed in DSH.</a:t>
            </a:r>
          </a:p>
          <a:p>
            <a:r>
              <a:t>TRANSITION</a:t>
            </a:r>
          </a:p>
          <a:p>
            <a:r>
              <a:t>Connect each feature to an ordinary working action.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How DSH supports the working day</a:t>
            </a:r>
          </a:p>
          <a:p>
            <a:r>
              <a:t>STORY TO TELL</a:t>
            </a:r>
          </a:p>
          <a:p>
            <a:r>
              <a:t>The project keeps the case together. Jupyter explains how a number was calculated. Terminal tools support inspection, and authenticated application routes provide entry to services. Managed environments reduce setup friction. For handover, save the work and inputs rather than rely on a notebook kernel remaining alive forever.</a:t>
            </a:r>
          </a:p>
          <a:p>
            <a:r>
              <a:t>DETAILED EXPLANATION</a:t>
            </a:r>
          </a:p>
          <a:p>
            <a:r>
              <a:t>Reproduction needs dataset version, code, parameters and environment information. A durable file is different from an active process. A colleague should be able to restart from saved material. These are recorded feature descriptions, not proof of isolation for every integration. Do not claim time saved until representative tasks are measured through review and accepted completion.</a:t>
            </a:r>
          </a:p>
          <a:p>
            <a:r>
              <a:t>TRANSITION</a:t>
            </a:r>
          </a:p>
          <a:p>
            <a:r>
              <a:t>A saved report may execute somewhere else. Follow it to that boundary.</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Generated HTML creates a second execution boundary</a:t>
            </a:r>
          </a:p>
          <a:p>
            <a:r>
              <a:t>STORY TO TELL</a:t>
            </a:r>
          </a:p>
          <a:p>
            <a:r>
              <a:t>We may have controlled the worker, but the recipient opens the HTML report in another browser with different network access. An image request can carry a case identifier. Check not only the numbers but what the output executes and contacts when opened. Worker restrictions do not automatically protect the viewer.</a:t>
            </a:r>
          </a:p>
          <a:p>
            <a:r>
              <a:t>DETAILED EXPLANATION</a:t>
            </a:r>
          </a:p>
          <a:p>
            <a:r>
              <a:t>The case-identifier scenario is hypothetical, not a demonstrated DSH leak. A browser does not send all credentials to every website; that depends on origin, cookies, browser rules and application design. Inspect external URLs, scripts, embedded content and integration permissions. EchoLeak illustrates the general danger of output rendering becoming a data path. This slide is a conceptual explanation, not a live demo.</a:t>
            </a:r>
          </a:p>
          <a:p>
            <a:r>
              <a:t>TRANSITION</a:t>
            </a:r>
          </a:p>
          <a:p>
            <a:r>
              <a:t>Acceptance tests need to cover the whole path, not just a successful page load.</a:t>
            </a:r>
          </a:p>
          <a:p>
            <a:r>
              <a:t>SOURCES</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Test the whole path before expanding a workflow</a:t>
            </a:r>
          </a:p>
          <a:p>
            <a:r>
              <a:t>STORY TO TELL</a:t>
            </a:r>
          </a:p>
          <a:p>
            <a:r>
              <a:t>A page opening does not prove an unapproved message is blocked. A stop button appearing does not prove queued work is cancelled. Use disposable inputs and inspect what actually happened. Test prohibited actions and legitimate work. That produces evidence for a particular version and workflow rather than a general safety claim.</a:t>
            </a:r>
          </a:p>
          <a:p>
            <a:r>
              <a:t>DETAILED EXPLANATION</a:t>
            </a:r>
          </a:p>
          <a:p>
            <a:r>
              <a:t>These are proposed test activities, not new completed tests. A gateway can block one route while another remains open; target services need their own permissions. Alerts require a recipient and response owner. No universal token lifetime prevents every compromise. Keep local tests, deployment checks and business acceptance distinct. Do not run unauthorised probes against real customer systems.</a:t>
            </a:r>
          </a:p>
          <a:p>
            <a:r>
              <a:t>TRANSITION</a:t>
            </a:r>
          </a:p>
          <a:p>
            <a:r>
              <a:t>Keep the resulting evidence small enough to use and complete enough to explain decisions.</a:t>
            </a:r>
          </a:p>
          <a:p>
            <a:r>
              <a:t>SOURCES</a:t>
            </a:r>
          </a:p>
          <a:p>
            <a:r>
              <a:t>https://thanatchon36.github.io/harnesswatch/paper/</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DETAILED EXPLANATION</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DETAILED EXPLANATION</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DETAILED EXPLANATION</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a:p>
            <a:r>
              <a:t>PUBLIC RESOURCE</a:t>
            </a:r>
          </a:p>
          <a:p>
            <a:r>
              <a:t>Scan the QR code or open https://github.com/skunpoj/dsh_setup . Public material provides a configurable reference; site-specific credentials, endpoints and operating data must remain outside the repository. The QR code was decoded independently to verify the destination.</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DETAILED EXPLANATION</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 / 23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2 / 23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3 / 23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4 / 23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5 / 23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FROM INCIDENT TO CONTROL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Operators must enforce the limits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can go wrong</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An agent can reach beyond its task through shared services, tools or credentials. Another AI agent saying GO cannot create human permission.</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operators decide</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Which files and systems are reachable? Which actions need approval? Who can stop the run and approve a restart? Protect approval and monitoring from the agent.</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means for DSH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Define the task, restrict access, record actions and test the stop path. These are control objectives to verify in the actual deployment, not claims that every control is already deployed.</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 practice: permission to prepare a claim summary should not also permit the agent to email the claimant, change a claim status or issue payment. Each action needs its own authority.</a:t>
            </a:r>
          </a:p>
        </p:txBody>
      </p:sp>
      <p:sp>
        <p:nvSpPr>
          <p:cNvPr id="12" name="TextBox 1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6 / 23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7 / 23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17243B"/>
                </a:solidFill>
                <a:latin typeface="Calibri"/>
              </a:defRPr>
            </a:pPr>
            <a:r>
              <a:t>PART 1 / GOVERNANCE RESPONSE</a:t>
            </a:r>
          </a:p>
        </p:txBody>
      </p:sp>
      <p:sp xmlns:a="http://schemas.openxmlformats.org/drawingml/2006/main">
        <p:nvSpPr>
          <p:cNvPr id="3" name="TextBox 2"/>
          <p:cNvSpPr txBox="1"/>
          <p:nvPr/>
        </p:nvSpPr>
        <p:spPr>
          <a:xfrm>
            <a:off x="640080" y="822960"/>
            <a:ext cx="10972800" cy="594360"/>
          </a:xfrm>
          <a:prstGeom prst="rect">
            <a:avLst/>
          </a:prstGeom>
          <a:noFill/>
        </p:spPr>
        <p:txBody>
          <a:bodyPr wrap="square">
            <a:spAutoFit/>
          </a:bodyPr>
          <a:lstStyle/>
          <a:p>
            <a:r>
              <a:rPr sz="2400" b="1">
                <a:latin typeface="Calibri"/>
              </a:rPr>
              <a:t>MAS: the institution remains accountable for its AI</a:t>
            </a:r>
          </a:p>
        </p:txBody>
      </p:sp>
      <p:sp xmlns:a="http://schemas.openxmlformats.org/drawingml/2006/main">
        <p:nvSpPr>
          <p:cNvPr id="4" name="TextBox 3"/>
          <p:cNvSpPr txBox="1"/>
          <p:nvPr/>
        </p:nvSpPr>
        <p:spPr>
          <a:xfrm>
            <a:off x="640080" y="1463040"/>
            <a:ext cx="10972800" cy="457200"/>
          </a:xfrm>
          <a:prstGeom prst="rect">
            <a:avLst/>
          </a:prstGeom>
          <a:noFill/>
        </p:spPr>
        <p:txBody>
          <a:bodyPr wrap="square">
            <a:spAutoFit/>
          </a:bodyPr>
          <a:lstStyle/>
          <a:p>
            <a:pPr>
              <a:defRPr sz="1500" b="0">
                <a:solidFill>
                  <a:srgbClr val="17243B"/>
                </a:solidFill>
                <a:latin typeface="Calibri"/>
              </a:defRPr>
            </a:pPr>
            <a:r>
              <a:t>Monetary Authority of Singapore • Final Guidelines on AI Risk Management issued 7 October 2026</a:t>
            </a:r>
          </a:p>
        </p:txBody>
      </p:sp>
      <p:sp xmlns:a="http://schemas.openxmlformats.org/drawingml/2006/main">
        <p:nvSpPr>
          <p:cNvPr id="5" name="Rounded Rectangle 4"/>
          <p:cNvSpPr/>
          <p:nvPr/>
        </p:nvSpPr>
        <p:spPr>
          <a:xfrm>
            <a:off x="64008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TextBox 5"/>
          <p:cNvSpPr txBox="1"/>
          <p:nvPr/>
        </p:nvSpPr>
        <p:spPr>
          <a:xfrm>
            <a:off x="777240" y="2212848"/>
            <a:ext cx="3246120" cy="411480"/>
          </a:xfrm>
          <a:prstGeom prst="rect">
            <a:avLst/>
          </a:prstGeom>
          <a:noFill/>
        </p:spPr>
        <p:txBody>
          <a:bodyPr wrap="square">
            <a:spAutoFit/>
          </a:bodyPr>
          <a:lstStyle/>
          <a:p>
            <a:pPr>
              <a:defRPr sz="1700" b="1">
                <a:solidFill>
                  <a:srgbClr val="17243B"/>
                </a:solidFill>
                <a:latin typeface="Calibri"/>
              </a:defRPr>
            </a:pPr>
            <a:r>
              <a:t>Oversight and ownership</a:t>
            </a:r>
          </a:p>
        </p:txBody>
      </p:sp>
      <p:sp xmlns:a="http://schemas.openxmlformats.org/drawingml/2006/main">
        <p:nvSpPr>
          <p:cNvPr id="7" name="TextBox 6"/>
          <p:cNvSpPr txBox="1"/>
          <p:nvPr/>
        </p:nvSpPr>
        <p:spPr>
          <a:xfrm>
            <a:off x="777240" y="2743200"/>
            <a:ext cx="3246120" cy="1554480"/>
          </a:xfrm>
          <a:prstGeom prst="rect">
            <a:avLst/>
          </a:prstGeom>
          <a:noFill/>
        </p:spPr>
        <p:txBody>
          <a:bodyPr wrap="square">
            <a:spAutoFit/>
          </a:bodyPr>
          <a:lstStyle/>
          <a:p>
            <a:pPr>
              <a:defRPr sz="1600" b="0">
                <a:solidFill>
                  <a:srgbClr val="17243B"/>
                </a:solidFill>
                <a:latin typeface="Calibri"/>
              </a:defRPr>
            </a:pPr>
            <a:r>
              <a:t>Board and senior management oversee AI risk. Set roles, risk appetite and coordination. Existing governance structures may suffice.</a:t>
            </a:r>
          </a:p>
        </p:txBody>
      </p:sp>
      <p:sp xmlns:a="http://schemas.openxmlformats.org/drawingml/2006/main">
        <p:nvSpPr>
          <p:cNvPr id="8" name="Rounded Rectangle 7"/>
          <p:cNvSpPr/>
          <p:nvPr/>
        </p:nvSpPr>
        <p:spPr>
          <a:xfrm>
            <a:off x="434340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4480560" y="2212848"/>
            <a:ext cx="3246120" cy="411480"/>
          </a:xfrm>
          <a:prstGeom prst="rect">
            <a:avLst/>
          </a:prstGeom>
          <a:noFill/>
        </p:spPr>
        <p:txBody>
          <a:bodyPr wrap="square">
            <a:spAutoFit/>
          </a:bodyPr>
          <a:lstStyle/>
          <a:p>
            <a:pPr>
              <a:defRPr sz="1700" b="1">
                <a:solidFill>
                  <a:srgbClr val="17243B"/>
                </a:solidFill>
                <a:latin typeface="Calibri"/>
              </a:defRPr>
            </a:pPr>
            <a:r>
              <a:t>Inventory and lifecycle</a:t>
            </a:r>
          </a:p>
        </p:txBody>
      </p:sp>
      <p:sp xmlns:a="http://schemas.openxmlformats.org/drawingml/2006/main">
        <p:nvSpPr>
          <p:cNvPr id="10" name="TextBox 9"/>
          <p:cNvSpPr txBox="1"/>
          <p:nvPr/>
        </p:nvSpPr>
        <p:spPr>
          <a:xfrm>
            <a:off x="4480560" y="2743200"/>
            <a:ext cx="3246120" cy="1554480"/>
          </a:xfrm>
          <a:prstGeom prst="rect">
            <a:avLst/>
          </a:prstGeom>
          <a:noFill/>
        </p:spPr>
        <p:txBody>
          <a:bodyPr wrap="square">
            <a:spAutoFit/>
          </a:bodyPr>
          <a:lstStyle/>
          <a:p>
            <a:pPr>
              <a:defRPr sz="1600" b="0">
                <a:solidFill>
                  <a:srgbClr val="17243B"/>
                </a:solidFill>
                <a:latin typeface="Calibri"/>
              </a:defRPr>
            </a:pPr>
            <a:r>
              <a:t>Identify AI use and maintain inventories. Assess materiality. Apply proportionate data, testing, human-oversight, cybersecurity, monitoring and change controls.</a:t>
            </a:r>
          </a:p>
        </p:txBody>
      </p:sp>
      <p:sp xmlns:a="http://schemas.openxmlformats.org/drawingml/2006/main">
        <p:nvSpPr>
          <p:cNvPr id="11" name="Rounded Rectangle 10"/>
          <p:cNvSpPr/>
          <p:nvPr/>
        </p:nvSpPr>
        <p:spPr>
          <a:xfrm>
            <a:off x="804672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8183880" y="2212848"/>
            <a:ext cx="3246120" cy="411480"/>
          </a:xfrm>
          <a:prstGeom prst="rect">
            <a:avLst/>
          </a:prstGeom>
          <a:noFill/>
        </p:spPr>
        <p:txBody>
          <a:bodyPr wrap="square">
            <a:spAutoFit/>
          </a:bodyPr>
          <a:lstStyle/>
          <a:p>
            <a:pPr>
              <a:defRPr sz="1700" b="1">
                <a:solidFill>
                  <a:srgbClr val="17243B"/>
                </a:solidFill>
                <a:latin typeface="Calibri"/>
              </a:defRPr>
            </a:pPr>
            <a:r>
              <a:t>Third-party AI</a:t>
            </a:r>
          </a:p>
        </p:txBody>
      </p:sp>
      <p:sp xmlns:a="http://schemas.openxmlformats.org/drawingml/2006/main">
        <p:nvSpPr>
          <p:cNvPr id="13" name="TextBox 12"/>
          <p:cNvSpPr txBox="1"/>
          <p:nvPr/>
        </p:nvSpPr>
        <p:spPr>
          <a:xfrm>
            <a:off x="8183880" y="2743200"/>
            <a:ext cx="3246120" cy="1554480"/>
          </a:xfrm>
          <a:prstGeom prst="rect">
            <a:avLst/>
          </a:prstGeom>
          <a:noFill/>
        </p:spPr>
        <p:txBody>
          <a:bodyPr wrap="square">
            <a:spAutoFit/>
          </a:bodyPr>
          <a:lstStyle/>
          <a:p>
            <a:pPr>
              <a:defRPr sz="1600" b="0">
                <a:solidFill>
                  <a:srgbClr val="17243B"/>
                </a:solidFill>
                <a:latin typeface="Calibri"/>
              </a:defRPr>
            </a:pPr>
            <a:r>
              <a:t>The institution remains accountable for provider AI. Obtain assurance and assess suitability. Use compensating controls. Limit, suspend or replace services if risk stays unacceptable.</a:t>
            </a:r>
          </a:p>
        </p:txBody>
      </p:sp>
      <p:sp xmlns:a="http://schemas.openxmlformats.org/drawingml/2006/main">
        <p:nvSpPr>
          <p:cNvPr id="14" name="TextBox 13"/>
          <p:cNvSpPr txBox="1"/>
          <p:nvPr/>
        </p:nvSpPr>
        <p:spPr>
          <a:xfrm>
            <a:off x="731520" y="4663440"/>
            <a:ext cx="10789920" cy="594360"/>
          </a:xfrm>
          <a:prstGeom prst="rect">
            <a:avLst/>
          </a:prstGeom>
          <a:noFill/>
        </p:spPr>
        <p:txBody>
          <a:bodyPr wrap="square">
            <a:spAutoFit/>
          </a:bodyPr>
          <a:lstStyle/>
          <a:p>
            <a:pPr>
              <a:defRPr sz="1500" b="0">
                <a:solidFill>
                  <a:srgbClr val="17243B"/>
                </a:solidFill>
                <a:latin typeface="Calibri"/>
              </a:defRPr>
            </a:pPr>
            <a:r>
              <a:t>Application: Sections 3–4 from 7 Oct 2027. Sections 5–6 by 7 Oct 2028. Basic policies may suffice for uses with immaterial impact. Further agentic-AI consultation is intended in 2027.</a:t>
            </a:r>
          </a:p>
        </p:txBody>
      </p:sp>
      <p:sp xmlns:a="http://schemas.openxmlformats.org/drawingml/2006/main">
        <p:nvSpPr>
          <p:cNvPr id="15" name="TextBox 14"/>
          <p:cNvSpPr txBox="1"/>
          <p:nvPr/>
        </p:nvSpPr>
        <p:spPr>
          <a:xfrm>
            <a:off x="731520" y="5504688"/>
            <a:ext cx="10789920" cy="594360"/>
          </a:xfrm>
          <a:prstGeom prst="rect">
            <a:avLst/>
          </a:prstGeom>
          <a:noFill/>
        </p:spPr>
        <p:txBody>
          <a:bodyPr wrap="square">
            <a:spAutoFit/>
          </a:bodyPr>
          <a:lstStyle/>
          <a:p>
            <a:pPr>
              <a:defRPr sz="1400" b="0">
                <a:solidFill>
                  <a:srgbClr val="17243B"/>
                </a:solidFill>
                <a:latin typeface="Calibri"/>
              </a:defRPr>
            </a:pPr>
            <a:r>
              <a:t>DSH preparation: map owners, inventories, access, approvals, test results and monitoring to the use case. Singapore supervisory context; assess local applicability. Independent airmkit research is not MAS approval.</a:t>
            </a:r>
          </a:p>
        </p:txBody>
      </p:sp>
      <p:sp xmlns:a="http://schemas.openxmlformats.org/drawingml/2006/main">
        <p:nvSpPr>
          <p:cNvPr id="16" name="TextBox 15"/>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8 / 23     05:25–06:20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9 / 23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PRACTICAL CONTROLS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Four questions make an AI task controllable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read?</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approved case files and the right policy version. Review external documents, repository hooks and MCP configuration before trusting them.</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do?</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reading and calculation from changing a record, sending a message or authorising a payment. Specify permitted tools and arguments.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leave or persist?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external requests, exports and saved context. Keep secrets out of prompts and logs where feasible. Limit cost, retries and execution.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happens on failure?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Show errors and route them for review. Test alerts, revocation, queued work and restart ownership. A visible stop button does not prove all activity stops.</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10 / 23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PRACTICAL GOVERNANCE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Governance should point to evidence people can use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NIST: organise the work</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GOVERN names owners. MAP explains the use and dependencies. MEASURE tests quality and risk. MANAGE prioritises action and monitoring.</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Insurance: protect customers</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NAIC model bulletin addresses governance, AI-supported decisions and a written AI Systems programme. Local adoption and requirements matter. Prepare data, validation and monitoring evidence.</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One evidence pack</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and purpose; approved data; provider and version; tests; approval points; monitoring; changes and incidents. MAS, DORA and EU AI Act applicability need separate jurisdiction and use-case review.</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evidence: the claims owner can show the policy version, validation cases, reviewer sign-off and change history. The same records can support risk review, audit and incident investigation.</a:t>
            </a:r>
          </a:p>
        </p:txBody>
      </p:sp>
      <p:sp>
        <p:nvSpPr>
          <p:cNvPr id="12" name="TextBox 1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11 / 23     07:50–08:30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12 / 23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13 / 23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14 / 23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15 / 23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16 / 23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WHAT DSH CONTRIBUTES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Why DSH: keep useful work and review in one place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use cases need</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place for approved files, conversations, calculations and saved results. Colleagues need to inspect the work, repeat the method and hand it over.</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Recorded DSH features</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Private projects, assistant tools for code and files, terminal, Jupyter and authenticated application routes. Managed environments and guides support repeatable work.</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still needs qualification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Workspace access, tools, routes and exports are places to configure and test controls. Owning those points creates responsibility. The examples do not mean all six business applications or complete enforcement already exist.</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in DSH: keep borrower files in a project, calculate ratios in Jupyter and save a source-linked memo. Review and any later write to the lending system remain separate steps.</a:t>
            </a:r>
          </a:p>
        </p:txBody>
      </p:sp>
      <p:sp>
        <p:nvSpPr>
          <p:cNvPr id="12" name="TextBox 1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17 / 23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FEATURES IN CONTEXT</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How DSH supports the working day</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Files and conversation</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Keep source material and discussion in a private project. Example: borrower statements, ratio assumptions and the draft memo remain together for review.</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Terminal and Jupyter</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Inspect data and rerun calculations. Example: a reviewer reproduces the invoice sum rather than trusting a number in a paragraph.</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Apps and environments</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Authenticated routes connect users to services. Managed Python environments and versioned kernels support a consistent starting point. Guides aid adoption and handover.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Persistence has limits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Saved files persist. Kernel memory and unmanaged running processes do not automatically return. Save inputs, code and results needed to recreate the work.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18 / 23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FOLLOW THE OUTPUT</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Generated HTML creates a second execution boundary</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Inside the workspace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assistant reads approved files and generates a report with the worker's identity and network permissions. Project inputs may still carry hostile instructions.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 the recipient's browser</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report may load scripts, images or remote data. Browser permissions differ from the worker's. Relevant credentials may be sent where browser rules allow.</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Practical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An external image URL in a claims report contains a case identifier. Opening the file could disclose that identifier through the request without a visible Send button.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to test</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Minimise sensitive exports. Review scripts and remote resources. Prefer self-contained output where appropriate. Test the final file in its real viewing environment.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19 / 23     14:55–15:45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ACCEPTANCE AND RECOVERY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Test the whole path before expanding a workflow</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Trust and access</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harmless test secrets and untrusted sample documents. Check hooks and MCP settings before consent. Try alternative file and network paths, including supporting services.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Actions and outputs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Test tool names, arguments and limits. Check that an unapproved send or record change fails. Inspect HTML and saved context for unintended data or requests.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Failure and recovery</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alerts and log access. Revoke a test credential, stop a test run and inspect queued work. Define which approved state can restart and who authorises it.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Pass evidence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Keep exact versions, inputs, observed results and review decisions. Canaries cover selected paths. A green build, token expiry or visible stop control alone is insufficient.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20 / 23     15:45–16:35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21 / 23     16:35–17:20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22 / 23     17:20–18:05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2" name="TextBox 11"/>
          <p:cNvSpPr txBox="1"/>
          <p:nvPr/>
        </p:nvSpPr>
        <p:spPr>
          <a:xfrm>
            <a:off x="640080" y="6510528"/>
            <a:ext cx="10972800" cy="182880"/>
          </a:xfrm>
          <a:prstGeom prst="rect">
            <a:avLst/>
          </a:prstGeom>
          <a:noFill/>
        </p:spPr>
        <p:txBody>
          <a:bodyPr wrap="none">
            <a:spAutoFit/>
          </a:bodyPr>
          <a:lstStyle/>
          <a:p>
            <a:pPr>
              <a:defRPr sz="900">
                <a:solidFill>
                  <a:srgbClr val="66758A"/>
                </a:solidFill>
                <a:latin typeface="Calibri"/>
              </a:defRPr>
            </a:pPr>
            <a:r>
              <a:t>23 / 23     18:05–18:35 planned     Sources and explanation in notes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